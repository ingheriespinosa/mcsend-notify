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446480" y="950400"/>
            <a:ext cx="9838080" cy="96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1446480" y="2071800"/>
            <a:ext cx="9838080" cy="335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-page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1446480" y="950400"/>
            <a:ext cx="9838080" cy="96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1446480" y="2071800"/>
            <a:ext cx="9838080" cy="335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"/>
          <p:cNvSpPr/>
          <p:nvPr/>
        </p:nvSpPr>
        <p:spPr>
          <a:xfrm>
            <a:off x="0" y="0"/>
            <a:ext cx="12191760" cy="6858000"/>
          </a:xfrm>
          <a:custGeom>
            <a:avLst/>
            <a:gdLst/>
            <a:ahLst/>
            <a:rect l="0" t="0" r="r" b="b"/>
            <a:pathLst>
              <a:path w="33866" h="19050">
                <a:moveTo>
                  <a:pt x="0" y="0"/>
                </a:moveTo>
                <a:lnTo>
                  <a:pt x="33866" y="0"/>
                </a:lnTo>
                <a:lnTo>
                  <a:pt x="33866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5e7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"/>
          <p:cNvSpPr txBox="1"/>
          <p:nvPr/>
        </p:nvSpPr>
        <p:spPr>
          <a:xfrm>
            <a:off x="914400" y="2748960"/>
            <a:ext cx="5376960" cy="852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60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MCSupport 3.2</a:t>
            </a:r>
            <a:endParaRPr b="0" lang="en-US" sz="6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"/>
          <p:cNvSpPr/>
          <p:nvPr/>
        </p:nvSpPr>
        <p:spPr>
          <a:xfrm>
            <a:off x="0" y="6534000"/>
            <a:ext cx="12191760" cy="324000"/>
          </a:xfrm>
          <a:custGeom>
            <a:avLst/>
            <a:gdLst/>
            <a:ahLst/>
            <a:rect l="0" t="0" r="r" b="b"/>
            <a:pathLst>
              <a:path w="33866" h="900">
                <a:moveTo>
                  <a:pt x="0" y="0"/>
                </a:moveTo>
                <a:lnTo>
                  <a:pt x="33866" y="0"/>
                </a:lnTo>
                <a:lnTo>
                  <a:pt x="33866" y="900"/>
                </a:lnTo>
                <a:lnTo>
                  <a:pt x="0" y="900"/>
                </a:lnTo>
                <a:lnTo>
                  <a:pt x="0" y="0"/>
                </a:lnTo>
                <a:close/>
              </a:path>
            </a:pathLst>
          </a:custGeom>
          <a:solidFill>
            <a:srgbClr val="ebad3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"/>
          <p:cNvSpPr txBox="1"/>
          <p:nvPr/>
        </p:nvSpPr>
        <p:spPr>
          <a:xfrm>
            <a:off x="914400" y="3772440"/>
            <a:ext cx="54734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400" strike="noStrike" u="none">
                <a:solidFill>
                  <a:srgbClr val="ebad39"/>
                </a:solidFill>
                <a:effectLst/>
                <a:uFillTx/>
                <a:latin typeface="Arial"/>
                <a:ea typeface="Arial"/>
              </a:rPr>
              <a:t>Novedades de la versión · Octubre 2026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"/>
          <p:cNvSpPr/>
          <p:nvPr/>
        </p:nvSpPr>
        <p:spPr>
          <a:xfrm>
            <a:off x="1037880" y="1733400"/>
            <a:ext cx="86400" cy="86040"/>
          </a:xfrm>
          <a:custGeom>
            <a:avLst/>
            <a:gdLst/>
            <a:ahLst/>
            <a:rect l="0" t="0" r="r" b="b"/>
            <a:pathLst>
              <a:path w="240" h="239">
                <a:moveTo>
                  <a:pt x="240" y="120"/>
                </a:moveTo>
                <a:cubicBezTo>
                  <a:pt x="240" y="136"/>
                  <a:pt x="237" y="151"/>
                  <a:pt x="231" y="166"/>
                </a:cubicBezTo>
                <a:cubicBezTo>
                  <a:pt x="224" y="180"/>
                  <a:pt x="216" y="193"/>
                  <a:pt x="205" y="204"/>
                </a:cubicBezTo>
                <a:cubicBezTo>
                  <a:pt x="194" y="215"/>
                  <a:pt x="181" y="224"/>
                  <a:pt x="166" y="230"/>
                </a:cubicBezTo>
                <a:cubicBezTo>
                  <a:pt x="151" y="236"/>
                  <a:pt x="136" y="239"/>
                  <a:pt x="121" y="239"/>
                </a:cubicBezTo>
                <a:cubicBezTo>
                  <a:pt x="105" y="239"/>
                  <a:pt x="89" y="236"/>
                  <a:pt x="74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6" y="180"/>
                  <a:pt x="10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10" y="74"/>
                </a:cubicBezTo>
                <a:cubicBezTo>
                  <a:pt x="16" y="59"/>
                  <a:pt x="24" y="46"/>
                  <a:pt x="35" y="35"/>
                </a:cubicBezTo>
                <a:cubicBezTo>
                  <a:pt x="46" y="24"/>
                  <a:pt x="59" y="15"/>
                  <a:pt x="74" y="9"/>
                </a:cubicBezTo>
                <a:cubicBezTo>
                  <a:pt x="89" y="3"/>
                  <a:pt x="105" y="0"/>
                  <a:pt x="121" y="0"/>
                </a:cubicBezTo>
                <a:cubicBezTo>
                  <a:pt x="136" y="0"/>
                  <a:pt x="151" y="3"/>
                  <a:pt x="166" y="9"/>
                </a:cubicBezTo>
                <a:cubicBezTo>
                  <a:pt x="181" y="15"/>
                  <a:pt x="194" y="24"/>
                  <a:pt x="205" y="35"/>
                </a:cubicBezTo>
                <a:cubicBezTo>
                  <a:pt x="216" y="46"/>
                  <a:pt x="224" y="59"/>
                  <a:pt x="231" y="74"/>
                </a:cubicBezTo>
                <a:cubicBezTo>
                  <a:pt x="237" y="89"/>
                  <a:pt x="240" y="104"/>
                  <a:pt x="240" y="120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914400" y="738720"/>
            <a:ext cx="2032560" cy="512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3600" strike="noStrike" u="none">
                <a:solidFill>
                  <a:srgbClr val="005e7d"/>
                </a:solidFill>
                <a:effectLst/>
                <a:uFillTx/>
                <a:latin typeface="Arial"/>
                <a:ea typeface="Arial"/>
              </a:rPr>
              <a:t>Lo nuevo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"/>
          <p:cNvSpPr/>
          <p:nvPr/>
        </p:nvSpPr>
        <p:spPr>
          <a:xfrm>
            <a:off x="1037880" y="2152440"/>
            <a:ext cx="86400" cy="86040"/>
          </a:xfrm>
          <a:custGeom>
            <a:avLst/>
            <a:gdLst/>
            <a:ahLst/>
            <a:rect l="0" t="0" r="r" b="b"/>
            <a:pathLst>
              <a:path w="240" h="239">
                <a:moveTo>
                  <a:pt x="240" y="120"/>
                </a:moveTo>
                <a:cubicBezTo>
                  <a:pt x="240" y="136"/>
                  <a:pt x="237" y="151"/>
                  <a:pt x="231" y="166"/>
                </a:cubicBezTo>
                <a:cubicBezTo>
                  <a:pt x="224" y="180"/>
                  <a:pt x="216" y="193"/>
                  <a:pt x="205" y="204"/>
                </a:cubicBezTo>
                <a:cubicBezTo>
                  <a:pt x="194" y="215"/>
                  <a:pt x="181" y="224"/>
                  <a:pt x="166" y="230"/>
                </a:cubicBezTo>
                <a:cubicBezTo>
                  <a:pt x="151" y="236"/>
                  <a:pt x="136" y="239"/>
                  <a:pt x="121" y="239"/>
                </a:cubicBezTo>
                <a:cubicBezTo>
                  <a:pt x="105" y="239"/>
                  <a:pt x="89" y="236"/>
                  <a:pt x="74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6" y="180"/>
                  <a:pt x="10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8"/>
                  <a:pt x="10" y="74"/>
                </a:cubicBezTo>
                <a:cubicBezTo>
                  <a:pt x="16" y="59"/>
                  <a:pt x="24" y="46"/>
                  <a:pt x="35" y="35"/>
                </a:cubicBezTo>
                <a:cubicBezTo>
                  <a:pt x="46" y="24"/>
                  <a:pt x="59" y="15"/>
                  <a:pt x="74" y="9"/>
                </a:cubicBezTo>
                <a:cubicBezTo>
                  <a:pt x="89" y="3"/>
                  <a:pt x="105" y="0"/>
                  <a:pt x="121" y="0"/>
                </a:cubicBezTo>
                <a:cubicBezTo>
                  <a:pt x="136" y="0"/>
                  <a:pt x="151" y="3"/>
                  <a:pt x="166" y="9"/>
                </a:cubicBezTo>
                <a:cubicBezTo>
                  <a:pt x="181" y="15"/>
                  <a:pt x="194" y="24"/>
                  <a:pt x="205" y="35"/>
                </a:cubicBezTo>
                <a:cubicBezTo>
                  <a:pt x="216" y="46"/>
                  <a:pt x="224" y="59"/>
                  <a:pt x="231" y="74"/>
                </a:cubicBezTo>
                <a:cubicBezTo>
                  <a:pt x="237" y="88"/>
                  <a:pt x="240" y="104"/>
                  <a:pt x="240" y="120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"/>
          <p:cNvSpPr txBox="1"/>
          <p:nvPr/>
        </p:nvSpPr>
        <p:spPr>
          <a:xfrm>
            <a:off x="1280160" y="1614240"/>
            <a:ext cx="6294960" cy="312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2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Panel de SLA en tiempo real por cliente y prioridad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"/>
          <p:cNvSpPr/>
          <p:nvPr/>
        </p:nvSpPr>
        <p:spPr>
          <a:xfrm>
            <a:off x="1037880" y="2571480"/>
            <a:ext cx="86400" cy="86040"/>
          </a:xfrm>
          <a:custGeom>
            <a:avLst/>
            <a:gdLst/>
            <a:ahLst/>
            <a:rect l="0" t="0" r="r" b="b"/>
            <a:pathLst>
              <a:path w="240" h="239">
                <a:moveTo>
                  <a:pt x="240" y="120"/>
                </a:moveTo>
                <a:cubicBezTo>
                  <a:pt x="240" y="136"/>
                  <a:pt x="237" y="151"/>
                  <a:pt x="231" y="166"/>
                </a:cubicBezTo>
                <a:cubicBezTo>
                  <a:pt x="224" y="180"/>
                  <a:pt x="216" y="193"/>
                  <a:pt x="205" y="204"/>
                </a:cubicBezTo>
                <a:cubicBezTo>
                  <a:pt x="194" y="216"/>
                  <a:pt x="181" y="224"/>
                  <a:pt x="166" y="230"/>
                </a:cubicBezTo>
                <a:cubicBezTo>
                  <a:pt x="151" y="236"/>
                  <a:pt x="136" y="239"/>
                  <a:pt x="121" y="239"/>
                </a:cubicBezTo>
                <a:cubicBezTo>
                  <a:pt x="105" y="239"/>
                  <a:pt x="89" y="236"/>
                  <a:pt x="74" y="230"/>
                </a:cubicBezTo>
                <a:cubicBezTo>
                  <a:pt x="59" y="224"/>
                  <a:pt x="46" y="216"/>
                  <a:pt x="35" y="204"/>
                </a:cubicBezTo>
                <a:cubicBezTo>
                  <a:pt x="24" y="193"/>
                  <a:pt x="16" y="180"/>
                  <a:pt x="10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8"/>
                  <a:pt x="10" y="74"/>
                </a:cubicBezTo>
                <a:cubicBezTo>
                  <a:pt x="16" y="59"/>
                  <a:pt x="24" y="46"/>
                  <a:pt x="35" y="35"/>
                </a:cubicBezTo>
                <a:cubicBezTo>
                  <a:pt x="46" y="24"/>
                  <a:pt x="59" y="15"/>
                  <a:pt x="74" y="9"/>
                </a:cubicBezTo>
                <a:cubicBezTo>
                  <a:pt x="89" y="3"/>
                  <a:pt x="105" y="0"/>
                  <a:pt x="121" y="0"/>
                </a:cubicBezTo>
                <a:cubicBezTo>
                  <a:pt x="136" y="0"/>
                  <a:pt x="151" y="3"/>
                  <a:pt x="166" y="9"/>
                </a:cubicBezTo>
                <a:cubicBezTo>
                  <a:pt x="181" y="15"/>
                  <a:pt x="194" y="24"/>
                  <a:pt x="205" y="35"/>
                </a:cubicBezTo>
                <a:cubicBezTo>
                  <a:pt x="216" y="46"/>
                  <a:pt x="224" y="59"/>
                  <a:pt x="231" y="74"/>
                </a:cubicBezTo>
                <a:cubicBezTo>
                  <a:pt x="237" y="88"/>
                  <a:pt x="240" y="104"/>
                  <a:pt x="240" y="120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"/>
          <p:cNvSpPr txBox="1"/>
          <p:nvPr/>
        </p:nvSpPr>
        <p:spPr>
          <a:xfrm>
            <a:off x="1280160" y="2033280"/>
            <a:ext cx="6031440" cy="312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2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Asignación automática de tickets por habilidades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"/>
          <p:cNvSpPr/>
          <p:nvPr/>
        </p:nvSpPr>
        <p:spPr>
          <a:xfrm>
            <a:off x="1037880" y="2990520"/>
            <a:ext cx="86400" cy="86400"/>
          </a:xfrm>
          <a:custGeom>
            <a:avLst/>
            <a:gdLst/>
            <a:ahLst/>
            <a:rect l="0" t="0" r="r" b="b"/>
            <a:pathLst>
              <a:path w="240" h="240">
                <a:moveTo>
                  <a:pt x="240" y="119"/>
                </a:moveTo>
                <a:cubicBezTo>
                  <a:pt x="240" y="135"/>
                  <a:pt x="237" y="151"/>
                  <a:pt x="231" y="166"/>
                </a:cubicBezTo>
                <a:cubicBezTo>
                  <a:pt x="224" y="181"/>
                  <a:pt x="216" y="194"/>
                  <a:pt x="205" y="205"/>
                </a:cubicBezTo>
                <a:cubicBezTo>
                  <a:pt x="194" y="216"/>
                  <a:pt x="181" y="224"/>
                  <a:pt x="166" y="230"/>
                </a:cubicBezTo>
                <a:cubicBezTo>
                  <a:pt x="151" y="237"/>
                  <a:pt x="136" y="240"/>
                  <a:pt x="121" y="240"/>
                </a:cubicBezTo>
                <a:cubicBezTo>
                  <a:pt x="105" y="240"/>
                  <a:pt x="89" y="237"/>
                  <a:pt x="74" y="230"/>
                </a:cubicBezTo>
                <a:cubicBezTo>
                  <a:pt x="59" y="224"/>
                  <a:pt x="46" y="216"/>
                  <a:pt x="35" y="205"/>
                </a:cubicBezTo>
                <a:cubicBezTo>
                  <a:pt x="24" y="194"/>
                  <a:pt x="16" y="181"/>
                  <a:pt x="10" y="166"/>
                </a:cubicBezTo>
                <a:cubicBezTo>
                  <a:pt x="3" y="151"/>
                  <a:pt x="0" y="135"/>
                  <a:pt x="0" y="119"/>
                </a:cubicBezTo>
                <a:cubicBezTo>
                  <a:pt x="0" y="104"/>
                  <a:pt x="3" y="89"/>
                  <a:pt x="10" y="74"/>
                </a:cubicBezTo>
                <a:cubicBezTo>
                  <a:pt x="16" y="59"/>
                  <a:pt x="24" y="46"/>
                  <a:pt x="35" y="35"/>
                </a:cubicBezTo>
                <a:cubicBezTo>
                  <a:pt x="46" y="24"/>
                  <a:pt x="59" y="16"/>
                  <a:pt x="74" y="9"/>
                </a:cubicBezTo>
                <a:cubicBezTo>
                  <a:pt x="89" y="3"/>
                  <a:pt x="105" y="0"/>
                  <a:pt x="121" y="0"/>
                </a:cubicBezTo>
                <a:cubicBezTo>
                  <a:pt x="136" y="0"/>
                  <a:pt x="151" y="3"/>
                  <a:pt x="166" y="9"/>
                </a:cubicBezTo>
                <a:cubicBezTo>
                  <a:pt x="181" y="16"/>
                  <a:pt x="194" y="24"/>
                  <a:pt x="205" y="35"/>
                </a:cubicBezTo>
                <a:cubicBezTo>
                  <a:pt x="216" y="46"/>
                  <a:pt x="224" y="59"/>
                  <a:pt x="231" y="74"/>
                </a:cubicBezTo>
                <a:cubicBezTo>
                  <a:pt x="237" y="89"/>
                  <a:pt x="240" y="104"/>
                  <a:pt x="240" y="119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"/>
          <p:cNvSpPr txBox="1"/>
          <p:nvPr/>
        </p:nvSpPr>
        <p:spPr>
          <a:xfrm>
            <a:off x="1280160" y="2452320"/>
            <a:ext cx="6449400" cy="312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2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Integración con Microsoft Teams para notificaciones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1280160" y="2871360"/>
            <a:ext cx="6000480" cy="312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2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Portal de autoservicio con base de conocimiento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"/>
          <p:cNvSpPr txBox="1"/>
          <p:nvPr/>
        </p:nvSpPr>
        <p:spPr>
          <a:xfrm>
            <a:off x="9388440" y="6224760"/>
            <a:ext cx="188928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878785"/>
                </a:solidFill>
                <a:effectLst/>
                <a:uFillTx/>
                <a:latin typeface="Arial"/>
                <a:ea typeface="Arial"/>
              </a:rPr>
              <a:t>Multicómputos · MCSupport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"/>
          <p:cNvSpPr/>
          <p:nvPr/>
        </p:nvSpPr>
        <p:spPr>
          <a:xfrm>
            <a:off x="928440" y="1576080"/>
            <a:ext cx="3181680" cy="1686240"/>
          </a:xfrm>
          <a:custGeom>
            <a:avLst/>
            <a:gdLst/>
            <a:ahLst/>
            <a:rect l="0" t="0" r="r" b="b"/>
            <a:pathLst>
              <a:path w="8838" h="4684">
                <a:moveTo>
                  <a:pt x="0" y="4301"/>
                </a:moveTo>
                <a:lnTo>
                  <a:pt x="0" y="384"/>
                </a:lnTo>
                <a:cubicBezTo>
                  <a:pt x="0" y="359"/>
                  <a:pt x="3" y="334"/>
                  <a:pt x="8" y="309"/>
                </a:cubicBezTo>
                <a:cubicBezTo>
                  <a:pt x="12" y="284"/>
                  <a:pt x="20" y="260"/>
                  <a:pt x="29" y="237"/>
                </a:cubicBezTo>
                <a:cubicBezTo>
                  <a:pt x="39" y="214"/>
                  <a:pt x="51" y="192"/>
                  <a:pt x="65" y="171"/>
                </a:cubicBezTo>
                <a:cubicBezTo>
                  <a:pt x="79" y="150"/>
                  <a:pt x="95" y="131"/>
                  <a:pt x="113" y="113"/>
                </a:cubicBezTo>
                <a:cubicBezTo>
                  <a:pt x="130" y="95"/>
                  <a:pt x="150" y="79"/>
                  <a:pt x="171" y="65"/>
                </a:cubicBezTo>
                <a:cubicBezTo>
                  <a:pt x="192" y="51"/>
                  <a:pt x="214" y="39"/>
                  <a:pt x="237" y="30"/>
                </a:cubicBezTo>
                <a:cubicBezTo>
                  <a:pt x="260" y="20"/>
                  <a:pt x="284" y="13"/>
                  <a:pt x="309" y="8"/>
                </a:cubicBezTo>
                <a:cubicBezTo>
                  <a:pt x="334" y="3"/>
                  <a:pt x="359" y="0"/>
                  <a:pt x="384" y="0"/>
                </a:cubicBezTo>
                <a:lnTo>
                  <a:pt x="8455" y="0"/>
                </a:lnTo>
                <a:cubicBezTo>
                  <a:pt x="8480" y="0"/>
                  <a:pt x="8505" y="3"/>
                  <a:pt x="8529" y="8"/>
                </a:cubicBezTo>
                <a:cubicBezTo>
                  <a:pt x="8554" y="13"/>
                  <a:pt x="8578" y="20"/>
                  <a:pt x="8601" y="30"/>
                </a:cubicBezTo>
                <a:cubicBezTo>
                  <a:pt x="8625" y="39"/>
                  <a:pt x="8647" y="51"/>
                  <a:pt x="8668" y="65"/>
                </a:cubicBezTo>
                <a:cubicBezTo>
                  <a:pt x="8689" y="79"/>
                  <a:pt x="8708" y="95"/>
                  <a:pt x="8726" y="113"/>
                </a:cubicBezTo>
                <a:cubicBezTo>
                  <a:pt x="8744" y="131"/>
                  <a:pt x="8760" y="150"/>
                  <a:pt x="8774" y="171"/>
                </a:cubicBezTo>
                <a:cubicBezTo>
                  <a:pt x="8788" y="192"/>
                  <a:pt x="8799" y="214"/>
                  <a:pt x="8809" y="237"/>
                </a:cubicBezTo>
                <a:cubicBezTo>
                  <a:pt x="8819" y="260"/>
                  <a:pt x="8826" y="284"/>
                  <a:pt x="8831" y="309"/>
                </a:cubicBezTo>
                <a:cubicBezTo>
                  <a:pt x="8836" y="334"/>
                  <a:pt x="8838" y="359"/>
                  <a:pt x="8838" y="384"/>
                </a:cubicBezTo>
                <a:lnTo>
                  <a:pt x="8838" y="4301"/>
                </a:lnTo>
                <a:cubicBezTo>
                  <a:pt x="8838" y="4326"/>
                  <a:pt x="8836" y="4351"/>
                  <a:pt x="8831" y="4376"/>
                </a:cubicBezTo>
                <a:cubicBezTo>
                  <a:pt x="8826" y="4400"/>
                  <a:pt x="8819" y="4424"/>
                  <a:pt x="8809" y="4448"/>
                </a:cubicBezTo>
                <a:cubicBezTo>
                  <a:pt x="8799" y="4471"/>
                  <a:pt x="8788" y="4493"/>
                  <a:pt x="8774" y="4514"/>
                </a:cubicBezTo>
                <a:cubicBezTo>
                  <a:pt x="8760" y="4535"/>
                  <a:pt x="8744" y="4554"/>
                  <a:pt x="8726" y="4572"/>
                </a:cubicBezTo>
                <a:cubicBezTo>
                  <a:pt x="8708" y="4590"/>
                  <a:pt x="8689" y="4606"/>
                  <a:pt x="8668" y="4620"/>
                </a:cubicBezTo>
                <a:cubicBezTo>
                  <a:pt x="8647" y="4634"/>
                  <a:pt x="8625" y="4646"/>
                  <a:pt x="8601" y="4655"/>
                </a:cubicBezTo>
                <a:cubicBezTo>
                  <a:pt x="8578" y="4665"/>
                  <a:pt x="8554" y="4672"/>
                  <a:pt x="8529" y="4677"/>
                </a:cubicBezTo>
                <a:cubicBezTo>
                  <a:pt x="8505" y="4682"/>
                  <a:pt x="8480" y="4684"/>
                  <a:pt x="8455" y="4684"/>
                </a:cubicBezTo>
                <a:lnTo>
                  <a:pt x="384" y="4684"/>
                </a:lnTo>
                <a:cubicBezTo>
                  <a:pt x="359" y="4684"/>
                  <a:pt x="334" y="4682"/>
                  <a:pt x="309" y="4677"/>
                </a:cubicBezTo>
                <a:cubicBezTo>
                  <a:pt x="284" y="4672"/>
                  <a:pt x="260" y="4665"/>
                  <a:pt x="237" y="4655"/>
                </a:cubicBezTo>
                <a:cubicBezTo>
                  <a:pt x="214" y="4646"/>
                  <a:pt x="192" y="4634"/>
                  <a:pt x="171" y="4620"/>
                </a:cubicBezTo>
                <a:cubicBezTo>
                  <a:pt x="150" y="4606"/>
                  <a:pt x="130" y="4590"/>
                  <a:pt x="113" y="4572"/>
                </a:cubicBezTo>
                <a:cubicBezTo>
                  <a:pt x="95" y="4554"/>
                  <a:pt x="79" y="4535"/>
                  <a:pt x="65" y="4514"/>
                </a:cubicBezTo>
                <a:cubicBezTo>
                  <a:pt x="51" y="4493"/>
                  <a:pt x="39" y="4471"/>
                  <a:pt x="29" y="4448"/>
                </a:cubicBezTo>
                <a:cubicBezTo>
                  <a:pt x="20" y="4424"/>
                  <a:pt x="12" y="4400"/>
                  <a:pt x="8" y="4376"/>
                </a:cubicBezTo>
                <a:cubicBezTo>
                  <a:pt x="3" y="4351"/>
                  <a:pt x="0" y="4326"/>
                  <a:pt x="0" y="4301"/>
                </a:cubicBezTo>
                <a:close/>
              </a:path>
            </a:pathLst>
          </a:custGeom>
          <a:noFill/>
          <a:ln w="28440">
            <a:solidFill>
              <a:srgbClr val="008cba"/>
            </a:solidFill>
            <a:miter/>
          </a:ln>
        </p:spPr>
        <p:txBody>
          <a:bodyPr lIns="14040" rIns="14040" tIns="14040" bIns="1404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"/>
          <p:cNvSpPr txBox="1"/>
          <p:nvPr/>
        </p:nvSpPr>
        <p:spPr>
          <a:xfrm>
            <a:off x="914400" y="738720"/>
            <a:ext cx="4623840" cy="512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3600" strike="noStrike" u="none">
                <a:solidFill>
                  <a:srgbClr val="005e7d"/>
                </a:solidFill>
                <a:effectLst/>
                <a:uFillTx/>
                <a:latin typeface="Arial"/>
                <a:ea typeface="Arial"/>
              </a:rPr>
              <a:t>Resultados del piloto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"/>
          <p:cNvSpPr txBox="1"/>
          <p:nvPr/>
        </p:nvSpPr>
        <p:spPr>
          <a:xfrm>
            <a:off x="1217160" y="1873800"/>
            <a:ext cx="1326600" cy="567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000" strike="noStrike" u="none">
                <a:solidFill>
                  <a:srgbClr val="008cba"/>
                </a:solidFill>
                <a:effectLst/>
                <a:uFillTx/>
                <a:latin typeface="Arial"/>
                <a:ea typeface="Arial"/>
              </a:rPr>
              <a:t>-32 %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"/>
          <p:cNvSpPr txBox="1"/>
          <p:nvPr/>
        </p:nvSpPr>
        <p:spPr>
          <a:xfrm>
            <a:off x="1217160" y="2450520"/>
            <a:ext cx="169092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555555"/>
                </a:solidFill>
                <a:effectLst/>
                <a:uFillTx/>
                <a:latin typeface="Arial"/>
                <a:ea typeface="Arial"/>
              </a:rPr>
              <a:t>tiempo medio de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"/>
          <p:cNvSpPr/>
          <p:nvPr/>
        </p:nvSpPr>
        <p:spPr>
          <a:xfrm>
            <a:off x="4500360" y="1576080"/>
            <a:ext cx="3191400" cy="1686240"/>
          </a:xfrm>
          <a:custGeom>
            <a:avLst/>
            <a:gdLst/>
            <a:ahLst/>
            <a:rect l="0" t="0" r="r" b="b"/>
            <a:pathLst>
              <a:path w="8865" h="4684">
                <a:moveTo>
                  <a:pt x="0" y="4301"/>
                </a:moveTo>
                <a:lnTo>
                  <a:pt x="0" y="384"/>
                </a:lnTo>
                <a:cubicBezTo>
                  <a:pt x="0" y="359"/>
                  <a:pt x="3" y="334"/>
                  <a:pt x="7" y="309"/>
                </a:cubicBezTo>
                <a:cubicBezTo>
                  <a:pt x="12" y="284"/>
                  <a:pt x="20" y="260"/>
                  <a:pt x="29" y="237"/>
                </a:cubicBezTo>
                <a:cubicBezTo>
                  <a:pt x="39" y="214"/>
                  <a:pt x="51" y="192"/>
                  <a:pt x="65" y="171"/>
                </a:cubicBezTo>
                <a:cubicBezTo>
                  <a:pt x="79" y="150"/>
                  <a:pt x="95" y="131"/>
                  <a:pt x="112" y="113"/>
                </a:cubicBezTo>
                <a:cubicBezTo>
                  <a:pt x="130" y="95"/>
                  <a:pt x="150" y="79"/>
                  <a:pt x="171" y="65"/>
                </a:cubicBezTo>
                <a:cubicBezTo>
                  <a:pt x="192" y="51"/>
                  <a:pt x="214" y="39"/>
                  <a:pt x="237" y="30"/>
                </a:cubicBezTo>
                <a:cubicBezTo>
                  <a:pt x="260" y="20"/>
                  <a:pt x="284" y="13"/>
                  <a:pt x="309" y="8"/>
                </a:cubicBezTo>
                <a:cubicBezTo>
                  <a:pt x="334" y="3"/>
                  <a:pt x="359" y="0"/>
                  <a:pt x="384" y="0"/>
                </a:cubicBezTo>
                <a:lnTo>
                  <a:pt x="8481" y="0"/>
                </a:lnTo>
                <a:cubicBezTo>
                  <a:pt x="8506" y="0"/>
                  <a:pt x="8531" y="3"/>
                  <a:pt x="8556" y="8"/>
                </a:cubicBezTo>
                <a:cubicBezTo>
                  <a:pt x="8581" y="13"/>
                  <a:pt x="8604" y="20"/>
                  <a:pt x="8628" y="30"/>
                </a:cubicBezTo>
                <a:cubicBezTo>
                  <a:pt x="8651" y="39"/>
                  <a:pt x="8673" y="51"/>
                  <a:pt x="8694" y="65"/>
                </a:cubicBezTo>
                <a:cubicBezTo>
                  <a:pt x="8715" y="79"/>
                  <a:pt x="8734" y="95"/>
                  <a:pt x="8752" y="113"/>
                </a:cubicBezTo>
                <a:cubicBezTo>
                  <a:pt x="8770" y="131"/>
                  <a:pt x="8786" y="150"/>
                  <a:pt x="8800" y="171"/>
                </a:cubicBezTo>
                <a:cubicBezTo>
                  <a:pt x="8814" y="192"/>
                  <a:pt x="8826" y="214"/>
                  <a:pt x="8835" y="237"/>
                </a:cubicBezTo>
                <a:cubicBezTo>
                  <a:pt x="8845" y="260"/>
                  <a:pt x="8852" y="284"/>
                  <a:pt x="8857" y="309"/>
                </a:cubicBezTo>
                <a:cubicBezTo>
                  <a:pt x="8862" y="334"/>
                  <a:pt x="8865" y="359"/>
                  <a:pt x="8865" y="384"/>
                </a:cubicBezTo>
                <a:lnTo>
                  <a:pt x="8865" y="4301"/>
                </a:lnTo>
                <a:cubicBezTo>
                  <a:pt x="8865" y="4326"/>
                  <a:pt x="8862" y="4351"/>
                  <a:pt x="8857" y="4376"/>
                </a:cubicBezTo>
                <a:cubicBezTo>
                  <a:pt x="8852" y="4400"/>
                  <a:pt x="8845" y="4424"/>
                  <a:pt x="8835" y="4448"/>
                </a:cubicBezTo>
                <a:cubicBezTo>
                  <a:pt x="8826" y="4471"/>
                  <a:pt x="8814" y="4493"/>
                  <a:pt x="8800" y="4514"/>
                </a:cubicBezTo>
                <a:cubicBezTo>
                  <a:pt x="8786" y="4535"/>
                  <a:pt x="8770" y="4554"/>
                  <a:pt x="8752" y="4572"/>
                </a:cubicBezTo>
                <a:cubicBezTo>
                  <a:pt x="8734" y="4590"/>
                  <a:pt x="8715" y="4606"/>
                  <a:pt x="8694" y="4620"/>
                </a:cubicBezTo>
                <a:cubicBezTo>
                  <a:pt x="8673" y="4634"/>
                  <a:pt x="8651" y="4646"/>
                  <a:pt x="8628" y="4655"/>
                </a:cubicBezTo>
                <a:cubicBezTo>
                  <a:pt x="8604" y="4665"/>
                  <a:pt x="8581" y="4672"/>
                  <a:pt x="8556" y="4677"/>
                </a:cubicBezTo>
                <a:cubicBezTo>
                  <a:pt x="8531" y="4682"/>
                  <a:pt x="8506" y="4684"/>
                  <a:pt x="8481" y="4684"/>
                </a:cubicBezTo>
                <a:lnTo>
                  <a:pt x="384" y="4684"/>
                </a:lnTo>
                <a:cubicBezTo>
                  <a:pt x="359" y="4684"/>
                  <a:pt x="334" y="4682"/>
                  <a:pt x="309" y="4677"/>
                </a:cubicBezTo>
                <a:cubicBezTo>
                  <a:pt x="284" y="4672"/>
                  <a:pt x="260" y="4665"/>
                  <a:pt x="237" y="4655"/>
                </a:cubicBezTo>
                <a:cubicBezTo>
                  <a:pt x="214" y="4646"/>
                  <a:pt x="192" y="4634"/>
                  <a:pt x="171" y="4620"/>
                </a:cubicBezTo>
                <a:cubicBezTo>
                  <a:pt x="150" y="4606"/>
                  <a:pt x="130" y="4590"/>
                  <a:pt x="112" y="4572"/>
                </a:cubicBezTo>
                <a:cubicBezTo>
                  <a:pt x="95" y="4554"/>
                  <a:pt x="79" y="4535"/>
                  <a:pt x="65" y="4514"/>
                </a:cubicBezTo>
                <a:cubicBezTo>
                  <a:pt x="51" y="4493"/>
                  <a:pt x="39" y="4471"/>
                  <a:pt x="29" y="4448"/>
                </a:cubicBezTo>
                <a:cubicBezTo>
                  <a:pt x="20" y="4424"/>
                  <a:pt x="12" y="4400"/>
                  <a:pt x="7" y="4376"/>
                </a:cubicBezTo>
                <a:cubicBezTo>
                  <a:pt x="3" y="4351"/>
                  <a:pt x="0" y="4326"/>
                  <a:pt x="0" y="4301"/>
                </a:cubicBezTo>
                <a:close/>
              </a:path>
            </a:pathLst>
          </a:custGeom>
          <a:noFill/>
          <a:ln w="28440">
            <a:solidFill>
              <a:srgbClr val="008cba"/>
            </a:solidFill>
            <a:miter/>
          </a:ln>
        </p:spPr>
        <p:txBody>
          <a:bodyPr lIns="14040" rIns="14040" tIns="14040" bIns="1404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"/>
          <p:cNvSpPr txBox="1"/>
          <p:nvPr/>
        </p:nvSpPr>
        <p:spPr>
          <a:xfrm>
            <a:off x="1217160" y="2717280"/>
            <a:ext cx="10425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555555"/>
                </a:solidFill>
                <a:effectLst/>
                <a:uFillTx/>
                <a:latin typeface="Arial"/>
                <a:ea typeface="Arial"/>
              </a:rPr>
              <a:t>resolución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"/>
          <p:cNvSpPr txBox="1"/>
          <p:nvPr/>
        </p:nvSpPr>
        <p:spPr>
          <a:xfrm>
            <a:off x="4793400" y="1873800"/>
            <a:ext cx="1453680" cy="567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000" strike="noStrike" u="none">
                <a:solidFill>
                  <a:srgbClr val="008cba"/>
                </a:solidFill>
                <a:effectLst/>
                <a:uFillTx/>
                <a:latin typeface="Arial"/>
                <a:ea typeface="Arial"/>
              </a:rPr>
              <a:t>+18 %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"/>
          <p:cNvSpPr/>
          <p:nvPr/>
        </p:nvSpPr>
        <p:spPr>
          <a:xfrm>
            <a:off x="8081640" y="1576080"/>
            <a:ext cx="3181680" cy="1686240"/>
          </a:xfrm>
          <a:custGeom>
            <a:avLst/>
            <a:gdLst/>
            <a:ahLst/>
            <a:rect l="0" t="0" r="r" b="b"/>
            <a:pathLst>
              <a:path w="8838" h="4684">
                <a:moveTo>
                  <a:pt x="0" y="4301"/>
                </a:moveTo>
                <a:lnTo>
                  <a:pt x="0" y="384"/>
                </a:lnTo>
                <a:cubicBezTo>
                  <a:pt x="0" y="359"/>
                  <a:pt x="3" y="334"/>
                  <a:pt x="8" y="309"/>
                </a:cubicBezTo>
                <a:cubicBezTo>
                  <a:pt x="13" y="284"/>
                  <a:pt x="20" y="260"/>
                  <a:pt x="30" y="237"/>
                </a:cubicBezTo>
                <a:cubicBezTo>
                  <a:pt x="39" y="214"/>
                  <a:pt x="51" y="192"/>
                  <a:pt x="65" y="171"/>
                </a:cubicBezTo>
                <a:cubicBezTo>
                  <a:pt x="79" y="150"/>
                  <a:pt x="95" y="131"/>
                  <a:pt x="113" y="113"/>
                </a:cubicBezTo>
                <a:cubicBezTo>
                  <a:pt x="131" y="95"/>
                  <a:pt x="150" y="79"/>
                  <a:pt x="171" y="65"/>
                </a:cubicBezTo>
                <a:cubicBezTo>
                  <a:pt x="192" y="51"/>
                  <a:pt x="214" y="39"/>
                  <a:pt x="237" y="30"/>
                </a:cubicBezTo>
                <a:cubicBezTo>
                  <a:pt x="260" y="20"/>
                  <a:pt x="284" y="13"/>
                  <a:pt x="309" y="8"/>
                </a:cubicBezTo>
                <a:cubicBezTo>
                  <a:pt x="334" y="3"/>
                  <a:pt x="359" y="0"/>
                  <a:pt x="384" y="0"/>
                </a:cubicBezTo>
                <a:lnTo>
                  <a:pt x="8454" y="0"/>
                </a:lnTo>
                <a:cubicBezTo>
                  <a:pt x="8479" y="0"/>
                  <a:pt x="8505" y="3"/>
                  <a:pt x="8530" y="8"/>
                </a:cubicBezTo>
                <a:cubicBezTo>
                  <a:pt x="8554" y="13"/>
                  <a:pt x="8578" y="20"/>
                  <a:pt x="8602" y="30"/>
                </a:cubicBezTo>
                <a:cubicBezTo>
                  <a:pt x="8625" y="39"/>
                  <a:pt x="8647" y="51"/>
                  <a:pt x="8668" y="65"/>
                </a:cubicBezTo>
                <a:cubicBezTo>
                  <a:pt x="8689" y="79"/>
                  <a:pt x="8708" y="95"/>
                  <a:pt x="8726" y="113"/>
                </a:cubicBezTo>
                <a:cubicBezTo>
                  <a:pt x="8744" y="131"/>
                  <a:pt x="8760" y="150"/>
                  <a:pt x="8774" y="171"/>
                </a:cubicBezTo>
                <a:cubicBezTo>
                  <a:pt x="8788" y="192"/>
                  <a:pt x="8800" y="214"/>
                  <a:pt x="8809" y="237"/>
                </a:cubicBezTo>
                <a:cubicBezTo>
                  <a:pt x="8819" y="260"/>
                  <a:pt x="8826" y="284"/>
                  <a:pt x="8831" y="309"/>
                </a:cubicBezTo>
                <a:cubicBezTo>
                  <a:pt x="8836" y="334"/>
                  <a:pt x="8838" y="359"/>
                  <a:pt x="8838" y="384"/>
                </a:cubicBezTo>
                <a:lnTo>
                  <a:pt x="8838" y="4301"/>
                </a:lnTo>
                <a:cubicBezTo>
                  <a:pt x="8838" y="4326"/>
                  <a:pt x="8836" y="4351"/>
                  <a:pt x="8831" y="4376"/>
                </a:cubicBezTo>
                <a:cubicBezTo>
                  <a:pt x="8826" y="4400"/>
                  <a:pt x="8819" y="4424"/>
                  <a:pt x="8809" y="4448"/>
                </a:cubicBezTo>
                <a:cubicBezTo>
                  <a:pt x="8800" y="4471"/>
                  <a:pt x="8788" y="4493"/>
                  <a:pt x="8774" y="4514"/>
                </a:cubicBezTo>
                <a:cubicBezTo>
                  <a:pt x="8760" y="4535"/>
                  <a:pt x="8744" y="4554"/>
                  <a:pt x="8726" y="4572"/>
                </a:cubicBezTo>
                <a:cubicBezTo>
                  <a:pt x="8708" y="4590"/>
                  <a:pt x="8689" y="4606"/>
                  <a:pt x="8668" y="4620"/>
                </a:cubicBezTo>
                <a:cubicBezTo>
                  <a:pt x="8647" y="4634"/>
                  <a:pt x="8625" y="4646"/>
                  <a:pt x="8602" y="4655"/>
                </a:cubicBezTo>
                <a:cubicBezTo>
                  <a:pt x="8578" y="4665"/>
                  <a:pt x="8554" y="4672"/>
                  <a:pt x="8530" y="4677"/>
                </a:cubicBezTo>
                <a:cubicBezTo>
                  <a:pt x="8505" y="4682"/>
                  <a:pt x="8479" y="4684"/>
                  <a:pt x="8454" y="4684"/>
                </a:cubicBezTo>
                <a:lnTo>
                  <a:pt x="384" y="4684"/>
                </a:lnTo>
                <a:cubicBezTo>
                  <a:pt x="359" y="4684"/>
                  <a:pt x="334" y="4682"/>
                  <a:pt x="309" y="4677"/>
                </a:cubicBezTo>
                <a:cubicBezTo>
                  <a:pt x="284" y="4672"/>
                  <a:pt x="260" y="4665"/>
                  <a:pt x="237" y="4655"/>
                </a:cubicBezTo>
                <a:cubicBezTo>
                  <a:pt x="214" y="4646"/>
                  <a:pt x="192" y="4634"/>
                  <a:pt x="171" y="4620"/>
                </a:cubicBezTo>
                <a:cubicBezTo>
                  <a:pt x="150" y="4606"/>
                  <a:pt x="131" y="4590"/>
                  <a:pt x="113" y="4572"/>
                </a:cubicBezTo>
                <a:cubicBezTo>
                  <a:pt x="95" y="4554"/>
                  <a:pt x="79" y="4535"/>
                  <a:pt x="65" y="4514"/>
                </a:cubicBezTo>
                <a:cubicBezTo>
                  <a:pt x="51" y="4493"/>
                  <a:pt x="39" y="4471"/>
                  <a:pt x="30" y="4448"/>
                </a:cubicBezTo>
                <a:cubicBezTo>
                  <a:pt x="20" y="4424"/>
                  <a:pt x="13" y="4400"/>
                  <a:pt x="8" y="4376"/>
                </a:cubicBezTo>
                <a:cubicBezTo>
                  <a:pt x="3" y="4351"/>
                  <a:pt x="0" y="4326"/>
                  <a:pt x="0" y="4301"/>
                </a:cubicBezTo>
                <a:close/>
              </a:path>
            </a:pathLst>
          </a:custGeom>
          <a:noFill/>
          <a:ln w="28440">
            <a:solidFill>
              <a:srgbClr val="008cba"/>
            </a:solidFill>
            <a:miter/>
          </a:ln>
        </p:spPr>
        <p:txBody>
          <a:bodyPr lIns="14040" rIns="14040" tIns="14040" bIns="1404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"/>
          <p:cNvSpPr txBox="1"/>
          <p:nvPr/>
        </p:nvSpPr>
        <p:spPr>
          <a:xfrm>
            <a:off x="4793400" y="2450520"/>
            <a:ext cx="235152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555555"/>
                </a:solidFill>
                <a:effectLst/>
                <a:uFillTx/>
                <a:latin typeface="Arial"/>
                <a:ea typeface="Arial"/>
              </a:rPr>
              <a:t>satisfacción de clientes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"/>
          <p:cNvSpPr txBox="1"/>
          <p:nvPr/>
        </p:nvSpPr>
        <p:spPr>
          <a:xfrm>
            <a:off x="8369640" y="1873800"/>
            <a:ext cx="1129320" cy="567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4000" strike="noStrike" u="none">
                <a:solidFill>
                  <a:srgbClr val="008cba"/>
                </a:solidFill>
                <a:effectLst/>
                <a:uFillTx/>
                <a:latin typeface="Arial"/>
                <a:ea typeface="Arial"/>
              </a:rPr>
              <a:t>4,6/5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"/>
          <p:cNvSpPr txBox="1"/>
          <p:nvPr/>
        </p:nvSpPr>
        <p:spPr>
          <a:xfrm>
            <a:off x="8369640" y="2450520"/>
            <a:ext cx="204660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555555"/>
                </a:solidFill>
                <a:effectLst/>
                <a:uFillTx/>
                <a:latin typeface="Arial"/>
                <a:ea typeface="Arial"/>
              </a:rPr>
              <a:t>valoración del portal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"/>
          <p:cNvSpPr txBox="1"/>
          <p:nvPr/>
        </p:nvSpPr>
        <p:spPr>
          <a:xfrm>
            <a:off x="9388440" y="6224760"/>
            <a:ext cx="188928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878785"/>
                </a:solidFill>
                <a:effectLst/>
                <a:uFillTx/>
                <a:latin typeface="Arial"/>
                <a:ea typeface="Arial"/>
              </a:rPr>
              <a:t>Multicómputos · MCSupport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"/>
          <p:cNvSpPr/>
          <p:nvPr/>
        </p:nvSpPr>
        <p:spPr>
          <a:xfrm>
            <a:off x="1037880" y="1733400"/>
            <a:ext cx="86400" cy="86040"/>
          </a:xfrm>
          <a:custGeom>
            <a:avLst/>
            <a:gdLst/>
            <a:ahLst/>
            <a:rect l="0" t="0" r="r" b="b"/>
            <a:pathLst>
              <a:path w="240" h="239">
                <a:moveTo>
                  <a:pt x="240" y="120"/>
                </a:moveTo>
                <a:cubicBezTo>
                  <a:pt x="240" y="136"/>
                  <a:pt x="237" y="151"/>
                  <a:pt x="231" y="166"/>
                </a:cubicBezTo>
                <a:cubicBezTo>
                  <a:pt x="224" y="180"/>
                  <a:pt x="216" y="193"/>
                  <a:pt x="205" y="204"/>
                </a:cubicBezTo>
                <a:cubicBezTo>
                  <a:pt x="194" y="215"/>
                  <a:pt x="181" y="224"/>
                  <a:pt x="166" y="230"/>
                </a:cubicBezTo>
                <a:cubicBezTo>
                  <a:pt x="151" y="236"/>
                  <a:pt x="136" y="239"/>
                  <a:pt x="121" y="239"/>
                </a:cubicBezTo>
                <a:cubicBezTo>
                  <a:pt x="105" y="239"/>
                  <a:pt x="89" y="236"/>
                  <a:pt x="74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6" y="180"/>
                  <a:pt x="10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10" y="74"/>
                </a:cubicBezTo>
                <a:cubicBezTo>
                  <a:pt x="16" y="59"/>
                  <a:pt x="24" y="46"/>
                  <a:pt x="35" y="35"/>
                </a:cubicBezTo>
                <a:cubicBezTo>
                  <a:pt x="46" y="24"/>
                  <a:pt x="59" y="15"/>
                  <a:pt x="74" y="9"/>
                </a:cubicBezTo>
                <a:cubicBezTo>
                  <a:pt x="89" y="3"/>
                  <a:pt x="105" y="0"/>
                  <a:pt x="121" y="0"/>
                </a:cubicBezTo>
                <a:cubicBezTo>
                  <a:pt x="136" y="0"/>
                  <a:pt x="151" y="3"/>
                  <a:pt x="166" y="9"/>
                </a:cubicBezTo>
                <a:cubicBezTo>
                  <a:pt x="181" y="15"/>
                  <a:pt x="194" y="24"/>
                  <a:pt x="205" y="35"/>
                </a:cubicBezTo>
                <a:cubicBezTo>
                  <a:pt x="216" y="46"/>
                  <a:pt x="224" y="59"/>
                  <a:pt x="231" y="74"/>
                </a:cubicBezTo>
                <a:cubicBezTo>
                  <a:pt x="237" y="89"/>
                  <a:pt x="240" y="104"/>
                  <a:pt x="240" y="120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"/>
          <p:cNvSpPr txBox="1"/>
          <p:nvPr/>
        </p:nvSpPr>
        <p:spPr>
          <a:xfrm>
            <a:off x="914400" y="738720"/>
            <a:ext cx="3532680" cy="512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3600" strike="noStrike" u="none">
                <a:solidFill>
                  <a:srgbClr val="005e7d"/>
                </a:solidFill>
                <a:effectLst/>
                <a:uFillTx/>
                <a:latin typeface="Arial"/>
                <a:ea typeface="Arial"/>
              </a:rPr>
              <a:t>Próximos pasos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"/>
          <p:cNvSpPr/>
          <p:nvPr/>
        </p:nvSpPr>
        <p:spPr>
          <a:xfrm>
            <a:off x="1037880" y="2152440"/>
            <a:ext cx="86400" cy="86040"/>
          </a:xfrm>
          <a:custGeom>
            <a:avLst/>
            <a:gdLst/>
            <a:ahLst/>
            <a:rect l="0" t="0" r="r" b="b"/>
            <a:pathLst>
              <a:path w="240" h="239">
                <a:moveTo>
                  <a:pt x="240" y="120"/>
                </a:moveTo>
                <a:cubicBezTo>
                  <a:pt x="240" y="136"/>
                  <a:pt x="237" y="151"/>
                  <a:pt x="231" y="166"/>
                </a:cubicBezTo>
                <a:cubicBezTo>
                  <a:pt x="224" y="180"/>
                  <a:pt x="216" y="193"/>
                  <a:pt x="205" y="204"/>
                </a:cubicBezTo>
                <a:cubicBezTo>
                  <a:pt x="194" y="215"/>
                  <a:pt x="181" y="224"/>
                  <a:pt x="166" y="230"/>
                </a:cubicBezTo>
                <a:cubicBezTo>
                  <a:pt x="151" y="236"/>
                  <a:pt x="136" y="239"/>
                  <a:pt x="121" y="239"/>
                </a:cubicBezTo>
                <a:cubicBezTo>
                  <a:pt x="105" y="239"/>
                  <a:pt x="89" y="236"/>
                  <a:pt x="74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6" y="180"/>
                  <a:pt x="10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8"/>
                  <a:pt x="10" y="74"/>
                </a:cubicBezTo>
                <a:cubicBezTo>
                  <a:pt x="16" y="59"/>
                  <a:pt x="24" y="46"/>
                  <a:pt x="35" y="35"/>
                </a:cubicBezTo>
                <a:cubicBezTo>
                  <a:pt x="46" y="24"/>
                  <a:pt x="59" y="15"/>
                  <a:pt x="74" y="9"/>
                </a:cubicBezTo>
                <a:cubicBezTo>
                  <a:pt x="89" y="3"/>
                  <a:pt x="105" y="0"/>
                  <a:pt x="121" y="0"/>
                </a:cubicBezTo>
                <a:cubicBezTo>
                  <a:pt x="136" y="0"/>
                  <a:pt x="151" y="3"/>
                  <a:pt x="166" y="9"/>
                </a:cubicBezTo>
                <a:cubicBezTo>
                  <a:pt x="181" y="15"/>
                  <a:pt x="194" y="24"/>
                  <a:pt x="205" y="35"/>
                </a:cubicBezTo>
                <a:cubicBezTo>
                  <a:pt x="216" y="46"/>
                  <a:pt x="224" y="59"/>
                  <a:pt x="231" y="74"/>
                </a:cubicBezTo>
                <a:cubicBezTo>
                  <a:pt x="237" y="88"/>
                  <a:pt x="240" y="104"/>
                  <a:pt x="240" y="120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"/>
          <p:cNvSpPr txBox="1"/>
          <p:nvPr/>
        </p:nvSpPr>
        <p:spPr>
          <a:xfrm>
            <a:off x="1280160" y="1614240"/>
            <a:ext cx="5163480" cy="312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2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Actualización automática el 15 de octubre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"/>
          <p:cNvSpPr/>
          <p:nvPr/>
        </p:nvSpPr>
        <p:spPr>
          <a:xfrm>
            <a:off x="1037880" y="2571480"/>
            <a:ext cx="86400" cy="86040"/>
          </a:xfrm>
          <a:custGeom>
            <a:avLst/>
            <a:gdLst/>
            <a:ahLst/>
            <a:rect l="0" t="0" r="r" b="b"/>
            <a:pathLst>
              <a:path w="240" h="239">
                <a:moveTo>
                  <a:pt x="240" y="120"/>
                </a:moveTo>
                <a:cubicBezTo>
                  <a:pt x="240" y="136"/>
                  <a:pt x="237" y="151"/>
                  <a:pt x="231" y="166"/>
                </a:cubicBezTo>
                <a:cubicBezTo>
                  <a:pt x="224" y="180"/>
                  <a:pt x="216" y="193"/>
                  <a:pt x="205" y="204"/>
                </a:cubicBezTo>
                <a:cubicBezTo>
                  <a:pt x="194" y="216"/>
                  <a:pt x="181" y="224"/>
                  <a:pt x="166" y="230"/>
                </a:cubicBezTo>
                <a:cubicBezTo>
                  <a:pt x="151" y="236"/>
                  <a:pt x="136" y="239"/>
                  <a:pt x="121" y="239"/>
                </a:cubicBezTo>
                <a:cubicBezTo>
                  <a:pt x="105" y="239"/>
                  <a:pt x="89" y="236"/>
                  <a:pt x="74" y="230"/>
                </a:cubicBezTo>
                <a:cubicBezTo>
                  <a:pt x="59" y="224"/>
                  <a:pt x="46" y="216"/>
                  <a:pt x="35" y="204"/>
                </a:cubicBezTo>
                <a:cubicBezTo>
                  <a:pt x="24" y="193"/>
                  <a:pt x="16" y="180"/>
                  <a:pt x="10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8"/>
                  <a:pt x="10" y="74"/>
                </a:cubicBezTo>
                <a:cubicBezTo>
                  <a:pt x="16" y="59"/>
                  <a:pt x="24" y="46"/>
                  <a:pt x="35" y="35"/>
                </a:cubicBezTo>
                <a:cubicBezTo>
                  <a:pt x="46" y="24"/>
                  <a:pt x="59" y="15"/>
                  <a:pt x="74" y="9"/>
                </a:cubicBezTo>
                <a:cubicBezTo>
                  <a:pt x="89" y="3"/>
                  <a:pt x="105" y="0"/>
                  <a:pt x="121" y="0"/>
                </a:cubicBezTo>
                <a:cubicBezTo>
                  <a:pt x="136" y="0"/>
                  <a:pt x="151" y="3"/>
                  <a:pt x="166" y="9"/>
                </a:cubicBezTo>
                <a:cubicBezTo>
                  <a:pt x="181" y="15"/>
                  <a:pt x="194" y="24"/>
                  <a:pt x="205" y="35"/>
                </a:cubicBezTo>
                <a:cubicBezTo>
                  <a:pt x="216" y="46"/>
                  <a:pt x="224" y="59"/>
                  <a:pt x="231" y="74"/>
                </a:cubicBezTo>
                <a:cubicBezTo>
                  <a:pt x="237" y="88"/>
                  <a:pt x="240" y="104"/>
                  <a:pt x="240" y="120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"/>
          <p:cNvSpPr txBox="1"/>
          <p:nvPr/>
        </p:nvSpPr>
        <p:spPr>
          <a:xfrm>
            <a:off x="1280160" y="2033280"/>
            <a:ext cx="5643360" cy="312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2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Sesiones de formación los martes a las 10:00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"/>
          <p:cNvSpPr txBox="1"/>
          <p:nvPr/>
        </p:nvSpPr>
        <p:spPr>
          <a:xfrm>
            <a:off x="1280160" y="2452320"/>
            <a:ext cx="4821840" cy="312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2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Soporte prioritario durante la migración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"/>
          <p:cNvSpPr txBox="1"/>
          <p:nvPr/>
        </p:nvSpPr>
        <p:spPr>
          <a:xfrm>
            <a:off x="9388440" y="6224760"/>
            <a:ext cx="188928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00" strike="noStrike" u="none">
                <a:solidFill>
                  <a:srgbClr val="878785"/>
                </a:solidFill>
                <a:effectLst/>
                <a:uFillTx/>
                <a:latin typeface="Arial"/>
                <a:ea typeface="Arial"/>
              </a:rPr>
              <a:t>Multicómputos · MCSupport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LibreOffice/25.8.3.2$Linux_X86_64 LibreOffice_project/580$Build-2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